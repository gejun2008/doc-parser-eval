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ejun2008/doc-parser-eval/blob/v1.0-report/docs/evaluation-report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ejun2008/doc-parser-eval/blob/v1.0-report/docs/test-results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ejun2008/doc-parser-eval/blob/v1.0-report/docs/evaluation-report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ejun2008/doc-parser-eval/blob/v1.0-report/docs/test-results.md" TargetMode="External"/><Relationship Id="rId3" Type="http://schemas.openxmlformats.org/officeDocument/2006/relationships/hyperlink" Target="https://github.com/gejun2008/doc-parser-eval/blob/v1.0-report/docs/evaluation-report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INFINITY-PARSER2 vs AZURE DOCUMENT INTELLIGENCE · 技术评估简报 · 2026-09-24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文档类型适用性对比：Azure DI vs Infinity-Parser2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样本：53 份公开披露文档 → 210 页 → 1,229 条断言；配对页 191 页（Azure 19 页因网关超时失败）　·　出处：</a:t>
            </a:r>
            <a:r>
              <a:rPr sz="900" b="0">
                <a:solidFill>
                  <a:srgbClr val="3D6FB6"/>
                </a:solidFill>
                <a:latin typeface="Microsoft YaHei"/>
                <a:ea typeface="Microsoft YaHei"/>
                <a:cs typeface="Microsoft YaHei"/>
                <a:hlinkClick r:id="rId2"/>
              </a:rPr>
              <a:t>evaluation-report.md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1 /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5855" cy="713232"/>
          </a:xfrm>
          <a:prstGeom prst="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54864" cy="713232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161288"/>
            <a:ext cx="10911535" cy="6400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r>
              <a:rPr sz="130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一句话：解析质量上 Azure 每项都持平或更好</a:t>
            </a:r>
            <a:r>
              <a:rPr sz="130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。港股披露文件、A 股公告的关键字段没看到差异，可以进 POC；但 A 股年报、中报「页首是续表」的页，Infinity 会</a:t>
            </a:r>
            <a:r>
              <a:rPr sz="130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静默丢掉整段表格</a:t>
            </a:r>
            <a:r>
              <a:rPr sz="130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。它还</a:t>
            </a:r>
            <a:r>
              <a:rPr sz="130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不提供置信度</a:t>
            </a:r>
            <a:r>
              <a:rPr sz="130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30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只收 PDF 和图片</a:t>
            </a:r>
            <a:r>
              <a:rPr sz="130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。替代理由只能来自成本或私有化部署。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36576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3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支持的文件格式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240280"/>
          <a:ext cx="11183112" cy="87782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1005840"/>
                <a:gridCol w="3840480"/>
                <a:gridCol w="1828800"/>
                <a:gridCol w="1005840"/>
                <a:gridCol w="167335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图片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Office（Word / Excel / PPT）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HTML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Azure DI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7A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7A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  JPG · PNG · BMP · TIFF · HEIF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7A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7A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Infinity-Parser2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7A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7A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  PNG · JPG · BMP · TIFF · WEBP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326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73152" marR="73152" marT="36576" marB="36576" anchor="ctr">
                    <a:solidFill>
                      <a:srgbClr val="FBE7E5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B326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73152" marR="73152" marT="36576" marB="36576" anchor="ctr">
                    <a:solidFill>
                      <a:srgbClr val="FBE7E5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B66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Office 须先转 PDF / 图片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3456432"/>
          <a:ext cx="11185855" cy="277977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3200"/>
                <a:gridCol w="2011680"/>
                <a:gridCol w="6430975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文档类型（PDF）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依据（同一批页配对比较）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港股年报 / 中报 / 招股书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7A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可替代候选 · 进 POC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金额、科目归属断言两边都没有失败；分族的正文完整性待第三轮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股临时公告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7A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可替代候选 · 进 POC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金额断言两边都没有失败；第一轮 Infinity 的领先已查明是标点造成的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股年报 / 中报（报表附注页）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B326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现阶段不可替代</a:t>
                      </a:r>
                    </a:p>
                  </a:txBody>
                  <a:tcPr marL="73152" marR="73152" marT="36576" marB="36576" anchor="ctr">
                    <a:solidFill>
                      <a:srgbClr val="FBE7E5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Infinity 3 页确定性丢表（共 27 个金额），都在页首续表页，没有报错；Azure 也缺了 6 个，原因待查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需要按置信度分流复核的流程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B326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不可替代（结构性）</a:t>
                      </a:r>
                    </a:p>
                  </a:txBody>
                  <a:tcPr marL="73152" marR="73152" marT="36576" marB="36576" anchor="ctr">
                    <a:solidFill>
                      <a:srgbClr val="FBE7E5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 不返回任何置信度，请求 logprobs 会被静默忽略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港股 KYC 类文件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9A67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证据不足</a:t>
                      </a:r>
                    </a:p>
                  </a:txBody>
                  <a:tcPr marL="73152" marR="73152" marT="36576" marB="36576" anchor="ctr">
                    <a:solidFill>
                      <a:srgbClr val="FFF4D6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只有 39 条正文完整性断言，没有金额断言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扫描件 / 倾斜件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9A67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未与 Azure 对照</a:t>
                      </a:r>
                    </a:p>
                  </a:txBody>
                  <a:tcPr marL="73152" marR="73152" marT="36576" marB="36576" anchor="ctr">
                    <a:solidFill>
                      <a:srgbClr val="FFF4D6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仅测了 Infinity：倾斜 2° 的页出现无限复读，打满 32k token，输出作废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贸易金融单证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5B66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未覆盖</a:t>
                      </a:r>
                    </a:p>
                  </a:txBody>
                  <a:tcPr marL="73152" marR="73152" marT="36576" marB="36576" anchor="ctr">
                    <a:solidFill>
                      <a:srgbClr val="EEF0F3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没有合规的公开样本，现有结论不能外推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Azure 在各项指标上持平或更好 · 同一批 191 页、同一套断言配对比较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解析质量对比：Azure DI vs Infinity-Parser2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检验方法：McNemar 配对检验；不合成总分；n &lt; 30 的分层不下结论　·　出处：</a:t>
            </a:r>
            <a:r>
              <a:rPr sz="900" b="0">
                <a:solidFill>
                  <a:srgbClr val="3D6FB6"/>
                </a:solidFill>
                <a:latin typeface="Microsoft YaHei"/>
                <a:ea typeface="Microsoft YaHei"/>
                <a:cs typeface="Microsoft YaHei"/>
                <a:hlinkClick r:id="rId2"/>
              </a:rPr>
              <a:t>test-results.md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2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27432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3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断言通过率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188720"/>
            <a:ext cx="118872" cy="118872"/>
          </a:xfrm>
          <a:prstGeom prst="rect">
            <a:avLst/>
          </a:prstGeom>
          <a:solidFill>
            <a:srgbClr val="3D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92808" y="1124712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0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Infinity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39" y="1188720"/>
            <a:ext cx="118872" cy="118872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124712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0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Azure 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81328"/>
            <a:ext cx="6172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572768"/>
            <a:ext cx="58978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5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金额</a:t>
            </a:r>
            <a:r>
              <a:rPr sz="11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  · 数值是否原样出现、出现次数是否正确 · n = 486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1892808"/>
            <a:ext cx="11887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Infinity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1938528"/>
            <a:ext cx="3931920" cy="155448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83080" y="1938528"/>
            <a:ext cx="3833622" cy="155448"/>
          </a:xfrm>
          <a:prstGeom prst="rect">
            <a:avLst/>
          </a:prstGeom>
          <a:solidFill>
            <a:srgbClr val="3D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1892808"/>
            <a:ext cx="7315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97.5%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2203704"/>
            <a:ext cx="11887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Azure DI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2249424"/>
            <a:ext cx="3931920" cy="155448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83080" y="2249424"/>
            <a:ext cx="3931920" cy="155448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2203704"/>
            <a:ext cx="7315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2560320"/>
            <a:ext cx="5843016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0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差异显著（0 : 12，p = 0.0005）。Infinity 的 12 条失败逐条核对后：</a:t>
            </a:r>
            <a:r>
              <a:rPr sz="100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8 条是真实遗漏</a:t>
            </a:r>
            <a:r>
              <a:rPr sz="10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，另外 4 条只是减号字形不同。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172968"/>
            <a:ext cx="6172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264408"/>
            <a:ext cx="58978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5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正文完整性</a:t>
            </a:r>
            <a:r>
              <a:rPr sz="11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  · 每页抽 3 行正文，查是否原样输出 · n = 448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3584448"/>
            <a:ext cx="11887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Infinity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3630168"/>
            <a:ext cx="3931920" cy="155448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83080" y="3630168"/>
            <a:ext cx="3660617" cy="155448"/>
          </a:xfrm>
          <a:prstGeom prst="rect">
            <a:avLst/>
          </a:prstGeom>
          <a:solidFill>
            <a:srgbClr val="3D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3584448"/>
            <a:ext cx="7315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93.1%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3895344"/>
            <a:ext cx="11887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Azure DI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3941064"/>
            <a:ext cx="3931920" cy="155448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83080" y="3941064"/>
            <a:ext cx="3817894" cy="155448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3895344"/>
            <a:ext cx="7315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97.1%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4251960"/>
            <a:ext cx="5843016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0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差异显著（2 : 20，p = 0.0001）。</a:t>
            </a:r>
            <a:r>
              <a:rPr sz="100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第一轮的 91.3% 对 72.5% 作废</a:t>
            </a:r>
            <a:r>
              <a:rPr sz="10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：那是 Azure 把全角标点转成半角造成的。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864608"/>
            <a:ext cx="61722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4956048"/>
            <a:ext cx="589788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5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单位与币种</a:t>
            </a:r>
            <a:r>
              <a:rPr sz="11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  · 表头「单位：元」等是否保留 · n = 93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" y="5276088"/>
            <a:ext cx="11887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Infinity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83080" y="5321808"/>
            <a:ext cx="3931920" cy="155448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783080" y="5321808"/>
            <a:ext cx="3888668" cy="155448"/>
          </a:xfrm>
          <a:prstGeom prst="rect">
            <a:avLst/>
          </a:prstGeom>
          <a:solidFill>
            <a:srgbClr val="3D6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6440" y="5276088"/>
            <a:ext cx="7315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98.9%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5586984"/>
            <a:ext cx="11887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Azure DI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83080" y="5632704"/>
            <a:ext cx="3931920" cy="155448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783080" y="5632704"/>
            <a:ext cx="3931920" cy="155448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5586984"/>
            <a:ext cx="731520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" y="5943600"/>
            <a:ext cx="5843016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0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未观察到显著差异（0 : 1）。金额与科目同行（n = 76）：Infinity 100%，Azure 98.7%，同样未观察到显著差异。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95159" y="1097280"/>
            <a:ext cx="4693615" cy="2487168"/>
          </a:xfrm>
          <a:prstGeom prst="roundRect">
            <a:avLst>
              <a:gd name="adj" fmla="val 4000"/>
            </a:avLst>
          </a:prstGeom>
          <a:solidFill>
            <a:srgbClr val="FFFAFA"/>
          </a:solidFill>
          <a:ln w="1905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1188720"/>
            <a:ext cx="43278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300" b="1">
                <a:solidFill>
                  <a:srgbClr val="B3261E"/>
                </a:solidFill>
                <a:latin typeface="Microsoft YaHei"/>
                <a:ea typeface="Microsoft YaHei"/>
                <a:cs typeface="Microsoft YaHei"/>
              </a:rPr>
              <a:t>全量金额扫描：两边都会缺，性质不同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1481328"/>
            <a:ext cx="4327855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配对 54 页 A 股金额页，1,544 个金额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1691640"/>
            <a:ext cx="17373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2800" b="1">
                <a:solidFill>
                  <a:srgbClr val="B3261E"/>
                </a:solidFill>
                <a:latin typeface="Microsoft YaHei"/>
                <a:ea typeface="Microsoft YaHei"/>
                <a:cs typeface="Microsoft YaHei"/>
              </a:rPr>
              <a:t>11 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2176272"/>
            <a:ext cx="17373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Infinity 缺失 · 2 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1691640"/>
            <a:ext cx="1737360" cy="457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280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6 个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2176272"/>
            <a:ext cx="17373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Azure 缺失 · 2 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2487168"/>
            <a:ext cx="4327855" cy="10972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05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Infinity 已查实</a:t>
            </a:r>
            <a:r>
              <a:rPr sz="105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：页首续表整段没输出；调用照常正常结束，重复 3 次缺的完全一样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• 配对集外还有一页：</a:t>
            </a:r>
            <a:r>
              <a:rPr sz="105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整张 16 个金额的表</a:t>
            </a:r>
            <a:r>
              <a:rPr sz="105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不见了（Azure 该页网关失败）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• Azure 缺的 6 个原因待查（第三轮）；页级比较未观察到显著差异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95159" y="3721608"/>
            <a:ext cx="4693615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78040" y="3794760"/>
            <a:ext cx="43278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2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服务与成本</a:t>
            </a:r>
            <a:r>
              <a:rPr sz="12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（只作参考，两边口径不同，不比优劣）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7178040" y="4133087"/>
          <a:ext cx="4327855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4400"/>
                <a:gridCol w="1828800"/>
                <a:gridCol w="1584655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5B66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5B66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Infinity（测试端点）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5B66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Azure DI（公司网关）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210 / 210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191 / 210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延迟 P50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22.5 s（并发 2）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 s（并发 4，含轮询）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吞吐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1.6–5.6 页/分，并发无效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Flash ¥38 / 千页（5 折 ¥19）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牌价 $10 / 千页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7178040" y="5760720"/>
            <a:ext cx="4327855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0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被测档位据厂商答复为 Flash 2.1，按 09-28 报价单牌价约 $5.3 / 千页，</a:t>
            </a:r>
            <a:r>
              <a:rPr sz="100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约为 Azure 牌价的一半</a:t>
            </a:r>
            <a:r>
              <a:rPr sz="10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；计量单位、折扣含义待确认，技术服务费另计。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OCR 出错时会报不确定，VLM 出错时照常交付 · 下一步：POC 范围与退出标准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技术路线对比：Azure DI（OCR 流水线）vs Infinity-Parser2（VLM）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出处：</a:t>
            </a:r>
            <a:r>
              <a:rPr sz="900" b="0">
                <a:solidFill>
                  <a:srgbClr val="3D6FB6"/>
                </a:solidFill>
                <a:latin typeface="Microsoft YaHei"/>
                <a:ea typeface="Microsoft YaHei"/>
                <a:cs typeface="Microsoft YaHei"/>
                <a:hlinkClick r:id="rId2"/>
              </a:rPr>
              <a:t>evaluation-report.md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3 /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6720840" cy="482803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43000"/>
                <a:gridCol w="3246120"/>
                <a:gridCol w="233172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Infinity-Parser2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5B667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Azure DI（prebuilt-layout）</a:t>
                      </a:r>
                    </a:p>
                  </a:txBody>
                  <a:tcPr marL="73152" marR="73152" marT="36576" marB="36576" anchor="ctr">
                    <a:solidFill>
                      <a:srgbClr val="F7F9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技术路线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视觉语言模型（VLM），一次生成整页 markdown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OCR + 版面分析流水线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支持格式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326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PDF 与图片</a:t>
                      </a:r>
                    </a:p>
                  </a:txBody>
                  <a:tcPr marL="73152" marR="73152" marT="36576" marB="36576" anchor="ctr">
                    <a:solidFill>
                      <a:srgbClr val="FBE7E5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7A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PDF、图片、Office、HTML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整页渲染成 300 DPI 图像，逐页独立处理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PDF（本次为单页 PDF）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置信度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B326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73152" marR="73152" marT="36576" marB="36576" anchor="ctr">
                    <a:solidFill>
                      <a:srgbClr val="FBE7E5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7A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每个文本片段都有</a:t>
                      </a:r>
                    </a:p>
                  </a:txBody>
                  <a:tcPr marL="73152" marR="73152" marT="36576" marB="36576" anchor="ctr">
                    <a:solidFill>
                      <a:srgbClr val="E4F4EA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同一页调用 3 次，99.0% 逐字相同（金额零变化）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保留原文全角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全角转半角，下游需要归一化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认不出时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可能漏掉或生成内容，调用照常正常结束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给低置信度或留空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特有失败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无限复读、打满 token 上限（观测到 2 次）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坐标框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由模型生成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几何检测得出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只看得到别名 inf-mllm；厂商答复为 Flash 2.1，无法逐次核实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 API 版本号，可指定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开源权重（Apache-2.0）；自称基于 Qwen3.5（待证实）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闭源托管服务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1188720"/>
            <a:ext cx="4144975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280160"/>
            <a:ext cx="377921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3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POC 建议范围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600200"/>
            <a:ext cx="3779215" cy="246888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5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先决条件：有成本或私有化部署上的动因</a:t>
            </a:r>
            <a:r>
              <a:rPr sz="115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，解析质量本身不构成动因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• 港股年报、中报、招股书 + A 股公告，只用电子版 PDF，每族 ≥ 300 页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150" b="1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定向测试 ≥ 50 页「页首续表」</a:t>
            </a:r>
            <a:r>
              <a:rPr sz="115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，测丢表的发生频率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• 强制护栏：金额与 PDF 文本层逐个对账；finish_reason=length 一律转人工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• 开测前厂商须答复：型号与版本锁定、计费方式、置信度、生产 SLA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4251960"/>
            <a:ext cx="4144975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79" y="4343400"/>
            <a:ext cx="377921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3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退出标准（任一触发即停）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681728"/>
            <a:ext cx="3779215" cy="16002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• 丢失或替换金额的页，显著多于 Azure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• 不能锁定版本，也不承诺变更前通知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• 按合同价计入人工复核后，单页成本高于 Azure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B2430"/>
                </a:solidFill>
                <a:latin typeface="Microsoft YaHei"/>
                <a:ea typeface="Microsoft YaHei"/>
                <a:cs typeface="Microsoft YaHei"/>
              </a:rPr>
              <a:t>• 生产吞吐达不到业务峰值；复读退化率超过阈值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1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结论 · 详细 · 方法 · 数据集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85855" cy="5486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2600" b="1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评测总结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027145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9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出处：</a:t>
            </a:r>
            <a:r>
              <a:rPr sz="900" b="0">
                <a:solidFill>
                  <a:srgbClr val="3D6FB6"/>
                </a:solidFill>
                <a:latin typeface="Microsoft YaHei"/>
                <a:ea typeface="Microsoft YaHei"/>
                <a:cs typeface="Microsoft YaHei"/>
                <a:hlinkClick r:id="rId2"/>
              </a:rPr>
              <a:t>test-results.md</a:t>
            </a:r>
            <a:r>
              <a:rPr sz="9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　·　</a:t>
            </a:r>
            <a:r>
              <a:rPr sz="900" b="0">
                <a:solidFill>
                  <a:srgbClr val="3D6FB6"/>
                </a:solidFill>
                <a:latin typeface="Microsoft YaHei"/>
                <a:ea typeface="Microsoft YaHei"/>
                <a:cs typeface="Microsoft YaHei"/>
                <a:hlinkClick r:id="rId3"/>
              </a:rPr>
              <a:t>evaluation-report.md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4 /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5" cy="31546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9997135"/>
              </a:tblGrid>
              <a:tr h="8686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73152" marR="73152" marT="36576" marB="36576" anchor="ctr">
                    <a:solidFill>
                      <a:srgbClr val="F5F8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Azure 在</a:t>
                      </a:r>
                      <a:r>
                        <a:rPr sz="1300" b="1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金额</a:t>
                      </a:r>
                      <a:r>
                        <a:rPr sz="13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300" b="1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正文完整性</a:t>
                      </a:r>
                      <a:r>
                        <a:rPr sz="13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两项上显著更好，</a:t>
                      </a:r>
                      <a:r>
                        <a:rPr sz="1300" b="1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单位币种</a:t>
                      </a:r>
                      <a:r>
                        <a:rPr sz="13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、</a:t>
                      </a:r>
                      <a:r>
                        <a:rPr sz="1300" b="1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金额科目归属</a:t>
                      </a:r>
                      <a:r>
                        <a:rPr sz="13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两项差异不显著，没有一项 Infinity 更好。Infinity 另有两个结构性缺陷：</a:t>
                      </a:r>
                      <a:r>
                        <a:rPr sz="1300" b="1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不返回置信度</a:t>
                      </a:r>
                      <a:r>
                        <a:rPr sz="13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；页首是续表的页会</a:t>
                      </a:r>
                      <a:r>
                        <a:rPr sz="1300" b="1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静默丢表</a:t>
                      </a:r>
                      <a:r>
                        <a:rPr sz="13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详细</a:t>
                      </a:r>
                    </a:p>
                  </a:txBody>
                  <a:tcPr marL="73152" marR="73152" marT="36576" marB="36576" anchor="ctr">
                    <a:solidFill>
                      <a:srgbClr val="F5F8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测试结果数据：参考 test-results.md；分析报告查询信息：参考 evaluation-report.md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73152" marR="73152" marT="36576" marB="36576" anchor="ctr">
                    <a:solidFill>
                      <a:srgbClr val="F5F8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两边都通过调用 API 解析同一批页，各自输出 markdown，我方不做转换；输出与同一套 GT（断言）逐条比对，只比两边都成功的页，用配对检验判断差异是否显著，不合成总分。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数据集</a:t>
                      </a:r>
                    </a:p>
                  </a:txBody>
                  <a:tcPr marL="73152" marR="73152" marT="36576" marB="36576" anchor="ctr">
                    <a:solidFill>
                      <a:srgbClr val="F5F8FB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4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自建金融集：53 份公开披露文档（巨潮资讯网、HKEX 披露易）→ 210 页 → 1,229 条断言，配对 191 页。GT 以 PDF 文本层自动提取为主，76 条科目归属人工逐条确认。公共基准 olmOCR-Bench：跑了 41 页。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DDE3EA"/>
                      </a:solidFill>
                    </a:lnT>
                    <a:lnB w="9525">
                      <a:solidFill>
                        <a:srgbClr val="DDE3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754880"/>
            <a:ext cx="5501487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5135727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300" b="1">
                <a:solidFill>
                  <a:srgbClr val="3D6FB6"/>
                </a:solidFill>
                <a:latin typeface="Microsoft YaHei"/>
                <a:ea typeface="Microsoft YaHei"/>
                <a:cs typeface="Microsoft YaHei"/>
                <a:hlinkClick r:id="rId2"/>
              </a:rPr>
              <a:t>test-results.md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193792"/>
            <a:ext cx="5135727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测试集与测试结果：测试集构成、GT 来源、各项指标与逐条失败明细、服务数据、数字出处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4754880"/>
            <a:ext cx="5501487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0167" y="4846320"/>
            <a:ext cx="5135727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300" b="1">
                <a:solidFill>
                  <a:srgbClr val="3D6FB6"/>
                </a:solidFill>
                <a:latin typeface="Microsoft YaHei"/>
                <a:ea typeface="Microsoft YaHei"/>
                <a:cs typeface="Microsoft YaHei"/>
                <a:hlinkClick r:id="rId3"/>
              </a:rPr>
              <a:t>evaluation-report.md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193792"/>
            <a:ext cx="5135727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r>
              <a:rPr sz="1050" b="0">
                <a:solidFill>
                  <a:srgbClr val="5B6675"/>
                </a:solidFill>
                <a:latin typeface="Microsoft YaHei"/>
                <a:ea typeface="Microsoft YaHei"/>
                <a:cs typeface="Microsoft YaHei"/>
              </a:rPr>
              <a:t>分析报告：结论与依据、按文档类型的判断、结构性差异、POC 范围与退出标准、评测方法（附录 C）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