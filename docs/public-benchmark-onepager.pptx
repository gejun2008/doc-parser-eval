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公开基准结果：Infinity 表格明显落后 Azure；文本与图表无明显区分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780"/>
                </a:solidFill>
                <a:latin typeface="Microsoft YaHei"/>
                <a:ea typeface="Microsoft YaHei"/>
                <a:cs typeface="Microsoft YaHei"/>
              </a:rPr>
              <a:t>olmOCR-Bench（120 页 / 499 项测试）· ParseBench（500 页）· 分维度配对检验，不合成总分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6949440" cy="29443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1280160"/>
                <a:gridCol w="128016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09728" marR="91440" marT="0" marB="0" anchor="ctr">
                    <a:solidFill>
                      <a:srgbClr val="0B5563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Infinity</a:t>
                      </a:r>
                    </a:p>
                  </a:txBody>
                  <a:tcPr marL="109728" marR="91440" marT="0" marB="0" anchor="ctr">
                    <a:solidFill>
                      <a:srgbClr val="0B5563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Azure</a:t>
                      </a:r>
                    </a:p>
                  </a:txBody>
                  <a:tcPr marL="109728" marR="91440" marT="0" marB="0" anchor="ctr">
                    <a:solidFill>
                      <a:srgbClr val="0B5563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Mistral</a:t>
                      </a:r>
                    </a:p>
                  </a:txBody>
                  <a:tcPr marL="109728" marR="91440" marT="0" marB="0" anchor="ctr">
                    <a:solidFill>
                      <a:srgbClr val="8A969E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表格 · ParseBench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74.8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82.6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63.2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B77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困难表格 (n=47)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64.2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78.1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AA3A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46.7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表格 · olmOCR-Bench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64.2%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86.6%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85.0%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 · Content Faithfulness ⚠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87.2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83.3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86.9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 · 默认输出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版面坐标 bbox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109728" marR="91440" marT="0" marB="0" anchor="ctr">
                    <a:solidFill>
                      <a:srgbClr val="EAF2F4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E7D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9AA3A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109728" marR="91440" marT="0" marB="0" anchor="ctr">
                    <a:solidFill>
                      <a:srgbClr val="FFFFFF"/>
                    </a:solidFill>
                    <a:lnL w="9525">
                      <a:solidFill>
                        <a:srgbClr val="D5DBE0"/>
                      </a:solidFill>
                    </a:lnL>
                    <a:lnR w="9525">
                      <a:solidFill>
                        <a:srgbClr val="D5DBE0"/>
                      </a:solidFill>
                    </a:lnR>
                    <a:lnT w="9525">
                      <a:solidFill>
                        <a:srgbClr val="D5DBE0"/>
                      </a:solidFill>
                    </a:lnT>
                    <a:lnB w="9525">
                      <a:solidFill>
                        <a:srgbClr val="D5DB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14/40</a:t>
            </a:r>
            <a:r>
              <a:rPr sz="1150" b="0">
                <a:solidFill>
                  <a:srgbClr val="6B7780"/>
                </a:solidFill>
                <a:latin typeface="Microsoft YaHei"/>
                <a:ea typeface="Microsoft YaHei"/>
                <a:cs typeface="Microsoft YaHei"/>
              </a:rPr>
              <a:t>  olmOCR 表格页被 Infinity 压平为纯文本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⚠</a:t>
            </a:r>
            <a:r>
              <a:rPr sz="1150" b="0">
                <a:solidFill>
                  <a:srgbClr val="6B7780"/>
                </a:solidFill>
                <a:latin typeface="Microsoft YaHei"/>
                <a:ea typeface="Microsoft YaHei"/>
                <a:cs typeface="Microsoft YaHei"/>
              </a:rPr>
              <a:t>  输入不对等：Infinity 为 300 DPI 渲染图，Azure / Mistral 为原始 PDF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58.3</a:t>
            </a:r>
            <a:r>
              <a:rPr sz="1150" b="0">
                <a:solidFill>
                  <a:srgbClr val="6B7780"/>
                </a:solidFill>
                <a:latin typeface="Microsoft YaHei"/>
                <a:ea typeface="Microsoft YaHei"/>
                <a:cs typeface="Microsoft YaHei"/>
              </a:rPr>
              <a:t>  Infinity 启用图表深度解析后的得分，需额外 825 次模型调用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087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965960"/>
            <a:ext cx="3867912" cy="86868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01000" y="2208276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8" y="2039112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表格：Infinity 落后 Azure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780"/>
                </a:solidFill>
                <a:latin typeface="Microsoft YaHei"/>
                <a:ea typeface="Microsoft YaHei"/>
                <a:cs typeface="Microsoft YaHei"/>
              </a:rPr>
              <a:t>两个基准均显著偏低；困难表格差 14 分，并存在表格压平为文本的失败模式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944368"/>
            <a:ext cx="3867912" cy="86868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1000" y="3186684"/>
            <a:ext cx="384048" cy="384048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30175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文本：三家接近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780"/>
                </a:solidFill>
                <a:latin typeface="Microsoft YaHei"/>
                <a:ea typeface="Microsoft YaHei"/>
                <a:cs typeface="Microsoft YaHei"/>
              </a:rPr>
              <a:t>输入不对等（渲染图 vs 原 PDF），不可直接比较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22776"/>
            <a:ext cx="3867912" cy="86868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01000" y="4165091"/>
            <a:ext cx="384048" cy="384048"/>
          </a:xfrm>
          <a:prstGeom prst="ellipse">
            <a:avLst/>
          </a:prstGeom>
          <a:solidFill>
            <a:srgbClr val="7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99592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图表：默认输出均不抽取数据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780"/>
                </a:solidFill>
                <a:latin typeface="Microsoft YaHei"/>
                <a:ea typeface="Microsoft YaHei"/>
                <a:cs typeface="Microsoft YaHei"/>
              </a:rPr>
              <a:t>Infinity 的 58.3 依赖额外模型调用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901183"/>
            <a:ext cx="3867912" cy="86868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01000" y="5143499"/>
            <a:ext cx="384048" cy="384048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4974336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2A33"/>
                </a:solidFill>
                <a:latin typeface="Microsoft YaHei"/>
                <a:ea typeface="Microsoft YaHei"/>
                <a:cs typeface="Microsoft YaHei"/>
              </a:rPr>
              <a:t>坐标：Infinity / Azure 均可输出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780"/>
                </a:solidFill>
                <a:latin typeface="Microsoft YaHei"/>
                <a:ea typeface="Microsoft YaHei"/>
                <a:cs typeface="Microsoft YaHei"/>
              </a:rPr>
              <a:t>Mistral 经测试网关未返回可评分 bbox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7780"/>
                </a:solidFill>
                <a:latin typeface="Microsoft YaHei"/>
                <a:ea typeface="Microsoft YaHei"/>
                <a:cs typeface="Microsoft YaHei"/>
              </a:rPr>
              <a:t>来源：olmOCR-Bench @ab294c6a · ParseBench @3295d7f · 2026-09-30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